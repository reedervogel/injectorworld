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B34"/>
        </a:solidFill>
        <a:effectLst/>
      </p:bgPr>
    </p:bg>
    <p:spTree>
      <p:nvGrpSpPr>
        <p:cNvPr id="1" name=""/>
        <p:cNvGrpSpPr/>
        <p:nvPr/>
      </p:nvGrpSpPr>
      <p:grpSpPr/>
      <p:sp>
        <p:nvSpPr>
          <p:cNvPr id="2" name="TextBox 1"/>
          <p:cNvSpPr txBox="1"/>
          <p:nvPr/>
        </p:nvSpPr>
        <p:spPr>
          <a:xfrm>
            <a:off x="1371600" y="2011680"/>
            <a:ext cx="9418320" cy="3200400"/>
          </a:xfrm>
          <a:prstGeom prst="rect">
            <a:avLst/>
          </a:prstGeom>
          <a:noFill/>
        </p:spPr>
        <p:txBody>
          <a:bodyPr wrap="square" lIns="0" tIns="0" rIns="0" bIns="0">
            <a:spAutoFit/>
          </a:bodyPr>
          <a:lstStyle/>
          <a:p>
            <a:pPr>
              <a:spcBef>
                <a:spcPts val="0"/>
              </a:spcBef>
              <a:defRPr sz="5600" b="1">
                <a:solidFill>
                  <a:srgbClr val="FFFFFF"/>
                </a:solidFill>
                <a:latin typeface="Georgia"/>
              </a:defRPr>
            </a:pPr>
            <a:r>
              <a:t>injectors • world</a:t>
            </a:r>
          </a:p>
          <a:p>
            <a:pPr>
              <a:spcBef>
                <a:spcPts val="1000"/>
              </a:spcBef>
              <a:defRPr sz="2400" b="0">
                <a:solidFill>
                  <a:srgbClr val="E6F2EE"/>
                </a:solidFill>
                <a:latin typeface="Arial"/>
              </a:defRPr>
            </a:pPr>
            <a:r>
              <a:t>The Trusted Guide to Expert Aesthetic Injectors</a:t>
            </a:r>
          </a:p>
          <a:p>
            <a:pPr>
              <a:spcBef>
                <a:spcPts val="4000"/>
              </a:spcBef>
              <a:defRPr sz="1600" b="0">
                <a:solidFill>
                  <a:srgbClr val="FFFFFF"/>
                </a:solidFill>
                <a:latin typeface="Arial"/>
              </a:defRPr>
            </a:pPr>
            <a:r>
              <a:t>Product Strategy, Core Features, and Launch Roadmap</a:t>
            </a:r>
          </a:p>
          <a:p>
            <a:pPr>
              <a:spcBef>
                <a:spcPts val="800"/>
              </a:spcBef>
              <a:defRPr sz="1300" b="0">
                <a:solidFill>
                  <a:srgbClr val="E6F2EE"/>
                </a:solidFill>
                <a:latin typeface="Arial"/>
              </a:defRPr>
            </a:pPr>
            <a:r>
              <a:t>Client Presentation  |  June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The Challenge in Today's Market</a:t>
            </a:r>
          </a:p>
          <a:p>
            <a:pPr>
              <a:spcBef>
                <a:spcPts val="400"/>
              </a:spcBef>
              <a:defRPr sz="1400">
                <a:solidFill>
                  <a:srgbClr val="3FA68A"/>
                </a:solidFill>
                <a:latin typeface="Arial"/>
              </a:defRPr>
            </a:pPr>
            <a:r>
              <a:t>Why navigating the aesthetic space is difficult for patients</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The Information Noise</a:t>
            </a:r>
          </a:p>
          <a:p>
            <a:pPr>
              <a:spcBef>
                <a:spcPts val="600"/>
              </a:spcBef>
              <a:defRPr sz="1500" b="0">
                <a:solidFill>
                  <a:srgbClr val="475569"/>
                </a:solidFill>
                <a:latin typeface="Arial"/>
              </a:defRPr>
            </a:pPr>
            <a:r>
              <a:t>Finding a qualified injector online is like walking into a crowded bazaar. It is full of influencer hype, filtered photos, paid promotions, and pushy advertisements.</a:t>
            </a:r>
          </a:p>
          <a:p>
            <a:pPr>
              <a:spcBef>
                <a:spcPts val="2000"/>
              </a:spcBef>
              <a:defRPr sz="1800" b="1">
                <a:solidFill>
                  <a:srgbClr val="0B1B34"/>
                </a:solidFill>
                <a:latin typeface="Arial"/>
              </a:defRPr>
            </a:pPr>
            <a:r>
              <a:t>Hidden Qualifications</a:t>
            </a:r>
          </a:p>
          <a:p>
            <a:pPr>
              <a:spcBef>
                <a:spcPts val="600"/>
              </a:spcBef>
              <a:defRPr sz="1500" b="0">
                <a:solidFill>
                  <a:srgbClr val="475569"/>
                </a:solidFill>
                <a:latin typeface="Arial"/>
              </a:defRPr>
            </a:pPr>
            <a:r>
              <a:t>Patients struggle to differentiate between credentials. It is difficult to know if an injector is a Board-Certified Doctor, a Nurse Practitioner, or an RN operating without supervision.</a:t>
            </a:r>
          </a:p>
          <a:p>
            <a:pPr>
              <a:spcBef>
                <a:spcPts val="2000"/>
              </a:spcBef>
              <a:defRPr sz="1800" b="1">
                <a:solidFill>
                  <a:srgbClr val="0B1B34"/>
                </a:solidFill>
                <a:latin typeface="Arial"/>
              </a:defRPr>
            </a:pPr>
            <a:r>
              <a:t>Discount-Driven Decisions</a:t>
            </a:r>
          </a:p>
          <a:p>
            <a:pPr>
              <a:spcBef>
                <a:spcPts val="600"/>
              </a:spcBef>
              <a:defRPr sz="1500" b="0">
                <a:solidFill>
                  <a:srgbClr val="475569"/>
                </a:solidFill>
                <a:latin typeface="Arial"/>
              </a:defRPr>
            </a:pPr>
            <a:r>
              <a:t>Many directories prioritize whoever pays the most. This pushes patients toward discount coupon offers instead of qualified medical competence.</a:t>
            </a:r>
          </a:p>
        </p:txBody>
      </p:sp>
      <p:sp>
        <p:nvSpPr>
          <p:cNvPr id="4" name="Rounded Rectangle 3"/>
          <p:cNvSpPr/>
          <p:nvPr/>
        </p:nvSpPr>
        <p:spPr>
          <a:xfrm>
            <a:off x="6217920" y="1828800"/>
            <a:ext cx="5212080" cy="4114800"/>
          </a:xfrm>
          <a:prstGeom prst="roundRect">
            <a:avLst/>
          </a:prstGeom>
          <a:solidFill>
            <a:srgbClr val="E6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03120"/>
            <a:ext cx="4480560" cy="3566160"/>
          </a:xfrm>
          <a:prstGeom prst="rect">
            <a:avLst/>
          </a:prstGeom>
          <a:noFill/>
        </p:spPr>
        <p:txBody>
          <a:bodyPr wrap="square" lIns="0" tIns="0" rIns="0" bIns="0">
            <a:spAutoFit/>
          </a:bodyPr>
          <a:lstStyle/>
          <a:p>
            <a:pPr>
              <a:spcBef>
                <a:spcPts val="0"/>
              </a:spcBef>
              <a:defRPr sz="1400" b="1">
                <a:solidFill>
                  <a:srgbClr val="3FA68A"/>
                </a:solidFill>
                <a:latin typeface="Arial"/>
              </a:defRPr>
            </a:pPr>
            <a:r>
              <a:t>THE MEDICAL REALITY</a:t>
            </a:r>
          </a:p>
          <a:p>
            <a:pPr>
              <a:spcBef>
                <a:spcPts val="1000"/>
              </a:spcBef>
              <a:defRPr sz="2200" b="1">
                <a:solidFill>
                  <a:srgbClr val="0B1B34"/>
                </a:solidFill>
                <a:latin typeface="Georgia"/>
              </a:defRPr>
            </a:pPr>
            <a:r>
              <a:t>Aesthetics is still medicine.</a:t>
            </a:r>
          </a:p>
          <a:p>
            <a:pPr>
              <a:spcBef>
                <a:spcPts val="1400"/>
              </a:spcBef>
              <a:defRPr sz="1600" b="0">
                <a:solidFill>
                  <a:srgbClr val="0B1B34"/>
                </a:solidFill>
                <a:latin typeface="Arial"/>
              </a:defRPr>
            </a:pPr>
            <a:r>
              <a:t>Every injection carries clinical risks. Patients do not need flashier marketing; they need a calm, independent authority to help them make safe decisions about their face.</a:t>
            </a:r>
          </a:p>
          <a:p>
            <a:pPr>
              <a:spcBef>
                <a:spcPts val="2000"/>
              </a:spcBef>
              <a:defRPr sz="1400" b="0">
                <a:solidFill>
                  <a:srgbClr val="475569"/>
                </a:solidFill>
                <a:latin typeface="Arial"/>
              </a:defRPr>
            </a:pPr>
            <a:r>
              <a:t>• 87% of patients search online before booking.</a:t>
            </a:r>
            <a:br/>
            <a:r>
              <a:t>• Credential verification is the #1 patient concern.</a:t>
            </a:r>
            <a:br/>
            <a:r>
              <a:t>• No existing site offers independent medical vetting.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Our Solution: Clinical Premium</a:t>
            </a:r>
          </a:p>
          <a:p>
            <a:pPr>
              <a:spcBef>
                <a:spcPts val="400"/>
              </a:spcBef>
              <a:defRPr sz="1400">
                <a:solidFill>
                  <a:srgbClr val="3FA68A"/>
                </a:solidFill>
                <a:latin typeface="Arial"/>
              </a:defRPr>
            </a:pPr>
            <a:r>
              <a:t>An editorial-first directory built on trust, verification, and aesthetics</a:t>
            </a:r>
          </a:p>
        </p:txBody>
      </p:sp>
      <p:sp>
        <p:nvSpPr>
          <p:cNvPr id="3" name="Rounded Rectangle 2"/>
          <p:cNvSpPr/>
          <p:nvPr/>
        </p:nvSpPr>
        <p:spPr>
          <a:xfrm>
            <a:off x="7315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94560"/>
            <a:ext cx="2743200" cy="3383280"/>
          </a:xfrm>
          <a:prstGeom prst="rect">
            <a:avLst/>
          </a:prstGeom>
          <a:noFill/>
        </p:spPr>
        <p:txBody>
          <a:bodyPr wrap="square" lIns="0" tIns="0" rIns="0" bIns="0">
            <a:spAutoFit/>
          </a:bodyPr>
          <a:lstStyle/>
          <a:p>
            <a:pPr>
              <a:spcBef>
                <a:spcPts val="0"/>
              </a:spcBef>
              <a:defRPr sz="2800" b="1">
                <a:solidFill>
                  <a:srgbClr val="3FA68A"/>
                </a:solidFill>
                <a:latin typeface="Georgia"/>
              </a:defRPr>
            </a:pPr>
            <a:r>
              <a:t>01</a:t>
            </a:r>
          </a:p>
          <a:p>
            <a:pPr>
              <a:spcBef>
                <a:spcPts val="1000"/>
              </a:spcBef>
              <a:defRPr sz="1800" b="1">
                <a:solidFill>
                  <a:srgbClr val="0B1B34"/>
                </a:solidFill>
                <a:latin typeface="Arial"/>
              </a:defRPr>
            </a:pPr>
            <a:r>
              <a:t>Editorial Integrity</a:t>
            </a:r>
          </a:p>
          <a:p>
            <a:pPr>
              <a:spcBef>
                <a:spcPts val="1000"/>
              </a:spcBef>
              <a:defRPr sz="1400" b="0">
                <a:solidFill>
                  <a:srgbClr val="475569"/>
                </a:solidFill>
                <a:latin typeface="Arial"/>
              </a:defRPr>
            </a:pPr>
            <a:r>
              <a:t>Our platform acts like a high-end publication, not an ad billboard. We provide clear, objective cost reports, recovery guidelines, and risk factors written in simple English.</a:t>
            </a:r>
          </a:p>
        </p:txBody>
      </p:sp>
      <p:sp>
        <p:nvSpPr>
          <p:cNvPr id="5" name="Rounded Rectangle 4"/>
          <p:cNvSpPr/>
          <p:nvPr/>
        </p:nvSpPr>
        <p:spPr>
          <a:xfrm>
            <a:off x="43891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63440" y="2194560"/>
            <a:ext cx="2743200" cy="3383280"/>
          </a:xfrm>
          <a:prstGeom prst="rect">
            <a:avLst/>
          </a:prstGeom>
          <a:noFill/>
        </p:spPr>
        <p:txBody>
          <a:bodyPr wrap="square" lIns="0" tIns="0" rIns="0" bIns="0">
            <a:spAutoFit/>
          </a:bodyPr>
          <a:lstStyle/>
          <a:p>
            <a:pPr>
              <a:spcBef>
                <a:spcPts val="0"/>
              </a:spcBef>
              <a:defRPr sz="2800" b="1">
                <a:solidFill>
                  <a:srgbClr val="3FA68A"/>
                </a:solidFill>
                <a:latin typeface="Georgia"/>
              </a:defRPr>
            </a:pPr>
            <a:r>
              <a:t>02</a:t>
            </a:r>
          </a:p>
          <a:p>
            <a:pPr>
              <a:spcBef>
                <a:spcPts val="1000"/>
              </a:spcBef>
              <a:defRPr sz="1800" b="1">
                <a:solidFill>
                  <a:srgbClr val="0B1B34"/>
                </a:solidFill>
                <a:latin typeface="Arial"/>
              </a:defRPr>
            </a:pPr>
            <a:r>
              <a:t>Strict Verification</a:t>
            </a:r>
          </a:p>
          <a:p>
            <a:pPr>
              <a:spcBef>
                <a:spcPts val="1000"/>
              </a:spcBef>
              <a:defRPr sz="1400" b="0">
                <a:solidFill>
                  <a:srgbClr val="475569"/>
                </a:solidFill>
                <a:latin typeface="Arial"/>
              </a:defRPr>
            </a:pPr>
            <a:r>
              <a:t>Every listed provider undergoes a three-step medical verification check. We verify their state licensing board status, review board certifications, and moderate patient reviews.</a:t>
            </a:r>
          </a:p>
        </p:txBody>
      </p:sp>
      <p:sp>
        <p:nvSpPr>
          <p:cNvPr id="7" name="Rounded Rectangle 6"/>
          <p:cNvSpPr/>
          <p:nvPr/>
        </p:nvSpPr>
        <p:spPr>
          <a:xfrm>
            <a:off x="80467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2194560"/>
            <a:ext cx="2743200" cy="3383280"/>
          </a:xfrm>
          <a:prstGeom prst="rect">
            <a:avLst/>
          </a:prstGeom>
          <a:noFill/>
        </p:spPr>
        <p:txBody>
          <a:bodyPr wrap="square" lIns="0" tIns="0" rIns="0" bIns="0">
            <a:spAutoFit/>
          </a:bodyPr>
          <a:lstStyle/>
          <a:p>
            <a:pPr>
              <a:spcBef>
                <a:spcPts val="0"/>
              </a:spcBef>
              <a:defRPr sz="2800" b="1">
                <a:solidFill>
                  <a:srgbClr val="3FA68A"/>
                </a:solidFill>
                <a:latin typeface="Georgia"/>
              </a:defRPr>
            </a:pPr>
            <a:r>
              <a:t>03</a:t>
            </a:r>
          </a:p>
          <a:p>
            <a:pPr>
              <a:spcBef>
                <a:spcPts val="1000"/>
              </a:spcBef>
              <a:defRPr sz="1800" b="1">
                <a:solidFill>
                  <a:srgbClr val="0B1B34"/>
                </a:solidFill>
                <a:latin typeface="Arial"/>
              </a:defRPr>
            </a:pPr>
            <a:r>
              <a:t>Visual Restraint</a:t>
            </a:r>
          </a:p>
          <a:p>
            <a:pPr>
              <a:spcBef>
                <a:spcPts val="1000"/>
              </a:spcBef>
              <a:defRPr sz="1400" b="0">
                <a:solidFill>
                  <a:srgbClr val="475569"/>
                </a:solidFill>
                <a:latin typeface="Arial"/>
              </a:defRPr>
            </a:pPr>
            <a:r>
              <a:t>We limit bright colors and sales banners. The site is a clean white canvas with elegant navy text and subtle mint green accents to maintain medical credibility.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Design &amp; Mobile-First Excellence</a:t>
            </a:r>
          </a:p>
          <a:p>
            <a:pPr>
              <a:spcBef>
                <a:spcPts val="400"/>
              </a:spcBef>
              <a:defRPr sz="1400">
                <a:solidFill>
                  <a:srgbClr val="3FA68A"/>
                </a:solidFill>
                <a:latin typeface="Arial"/>
              </a:defRPr>
            </a:pPr>
            <a:r>
              <a:t>How we ensure a premium user experience across all devices</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Mobile-First Philosophy</a:t>
            </a:r>
          </a:p>
          <a:p>
            <a:pPr>
              <a:spcBef>
                <a:spcPts val="600"/>
              </a:spcBef>
              <a:defRPr sz="1500" b="0">
                <a:solidFill>
                  <a:srgbClr val="475569"/>
                </a:solidFill>
                <a:latin typeface="Arial"/>
              </a:defRPr>
            </a:pPr>
            <a:r>
              <a:t>Over 80% of our patient traffic will browse on mobile devices. We built every visual component mobile-first, then scaled them up for desktops. If a feature does not work beautifully on a phone, we do not ship it.</a:t>
            </a:r>
          </a:p>
          <a:p>
            <a:pPr>
              <a:spcBef>
                <a:spcPts val="2000"/>
              </a:spcBef>
              <a:defRPr sz="1800" b="1">
                <a:solidFill>
                  <a:srgbClr val="0B1B34"/>
                </a:solidFill>
                <a:latin typeface="Arial"/>
              </a:defRPr>
            </a:pPr>
            <a:r>
              <a:t>Consistent Token Colors</a:t>
            </a:r>
          </a:p>
          <a:p>
            <a:pPr>
              <a:spcBef>
                <a:spcPts val="600"/>
              </a:spcBef>
              <a:defRPr sz="1500" b="0">
                <a:solidFill>
                  <a:srgbClr val="475569"/>
                </a:solidFill>
                <a:latin typeface="Arial"/>
              </a:defRPr>
            </a:pPr>
            <a:r>
              <a:t>The platform uses unified design tokens. Colors automatically flip between light and dark mode. Primary button text adjusts dynamically to ensure high contrast, preventing readability bugs.</a:t>
            </a:r>
          </a:p>
        </p:txBody>
      </p:sp>
      <p:sp>
        <p:nvSpPr>
          <p:cNvPr id="4" name="Rounded Rectangle 3"/>
          <p:cNvSpPr/>
          <p:nvPr/>
        </p:nvSpPr>
        <p:spPr>
          <a:xfrm>
            <a:off x="6217920" y="182880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KEY DESIGN GUIDELINES</a:t>
            </a:r>
          </a:p>
          <a:p>
            <a:pPr>
              <a:spcBef>
                <a:spcPts val="1000"/>
              </a:spcBef>
              <a:defRPr sz="2200" b="1">
                <a:solidFill>
                  <a:srgbClr val="0B1B34"/>
                </a:solidFill>
                <a:latin typeface="Georgia"/>
              </a:defRPr>
            </a:pPr>
            <a:r>
              <a:t>Vetted Aesthetics</a:t>
            </a:r>
          </a:p>
          <a:p>
            <a:pPr>
              <a:spcBef>
                <a:spcPts val="1200"/>
              </a:spcBef>
              <a:defRPr sz="1500" b="0">
                <a:solidFill>
                  <a:srgbClr val="475569"/>
                </a:solidFill>
                <a:latin typeface="Arial"/>
              </a:defRPr>
            </a:pPr>
            <a:r>
              <a:t>• Clean Canvas: Pure white backgrounds keep the focus on medical clarity.</a:t>
            </a:r>
          </a:p>
          <a:p>
            <a:pPr>
              <a:spcBef>
                <a:spcPts val="800"/>
              </a:spcBef>
              <a:defRPr sz="1500" b="0">
                <a:solidFill>
                  <a:srgbClr val="475569"/>
                </a:solidFill>
                <a:latin typeface="Arial"/>
              </a:defRPr>
            </a:pPr>
            <a:r>
              <a:t>• Mint Accent Constraint: The mint green color appears at most twice per viewport, reserved strictly for trust badges and active buttons.</a:t>
            </a:r>
          </a:p>
          <a:p>
            <a:pPr>
              <a:spcBef>
                <a:spcPts val="800"/>
              </a:spcBef>
              <a:defRPr sz="1500" b="0">
                <a:solidFill>
                  <a:srgbClr val="475569"/>
                </a:solidFill>
                <a:latin typeface="Arial"/>
              </a:defRPr>
            </a:pPr>
            <a:r>
              <a:t>• Professional Fonts: Displays use Fraunces (serif for authority) while UI labels use Inter (sans-serif for absolute clarity).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The 4-Step Patient Journey</a:t>
            </a:r>
          </a:p>
          <a:p>
            <a:pPr>
              <a:spcBef>
                <a:spcPts val="400"/>
              </a:spcBef>
              <a:defRPr sz="1400">
                <a:solidFill>
                  <a:srgbClr val="3FA68A"/>
                </a:solidFill>
                <a:latin typeface="Arial"/>
              </a:defRPr>
            </a:pPr>
            <a:r>
              <a:t>A simple, trust-focused booking funnel</a:t>
            </a:r>
          </a:p>
        </p:txBody>
      </p:sp>
      <p:sp>
        <p:nvSpPr>
          <p:cNvPr id="3" name="Rounded Rectangle 2"/>
          <p:cNvSpPr/>
          <p:nvPr/>
        </p:nvSpPr>
        <p:spPr>
          <a:xfrm>
            <a:off x="731520" y="2011680"/>
            <a:ext cx="246888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2286000"/>
            <a:ext cx="2103120" cy="3291840"/>
          </a:xfrm>
          <a:prstGeom prst="rect">
            <a:avLst/>
          </a:prstGeom>
          <a:noFill/>
        </p:spPr>
        <p:txBody>
          <a:bodyPr wrap="square" lIns="0" tIns="0" rIns="0" bIns="0">
            <a:spAutoFit/>
          </a:bodyPr>
          <a:lstStyle/>
          <a:p>
            <a:pPr>
              <a:spcBef>
                <a:spcPts val="0"/>
              </a:spcBef>
              <a:defRPr sz="3200" b="1">
                <a:solidFill>
                  <a:srgbClr val="3FA68A"/>
                </a:solidFill>
                <a:latin typeface="Georgia"/>
              </a:defRPr>
            </a:pPr>
            <a:r>
              <a:t>01</a:t>
            </a:r>
          </a:p>
          <a:p>
            <a:pPr>
              <a:spcBef>
                <a:spcPts val="800"/>
              </a:spcBef>
              <a:defRPr sz="1800" b="1">
                <a:solidFill>
                  <a:srgbClr val="0B1B34"/>
                </a:solidFill>
                <a:latin typeface="Arial"/>
              </a:defRPr>
            </a:pPr>
            <a:r>
              <a:t>Discover</a:t>
            </a:r>
          </a:p>
          <a:p>
            <a:pPr>
              <a:spcBef>
                <a:spcPts val="400"/>
              </a:spcBef>
              <a:defRPr sz="1300" b="1">
                <a:solidFill>
                  <a:srgbClr val="475569"/>
                </a:solidFill>
                <a:latin typeface="Arial"/>
              </a:defRPr>
            </a:pPr>
            <a:r>
              <a:t>Search by Treatment &amp; City</a:t>
            </a:r>
          </a:p>
          <a:p>
            <a:pPr>
              <a:spcBef>
                <a:spcPts val="1000"/>
              </a:spcBef>
              <a:defRPr sz="1300" b="0">
                <a:solidFill>
                  <a:srgbClr val="475569"/>
                </a:solidFill>
                <a:latin typeface="Arial"/>
              </a:defRPr>
            </a:pPr>
            <a:r>
              <a:t>A patient searches for treatments (e.g., 'Botox') in their city. Dynamic autocomplete guides them instantly.</a:t>
            </a:r>
          </a:p>
        </p:txBody>
      </p:sp>
      <p:sp>
        <p:nvSpPr>
          <p:cNvPr id="5" name="Rounded Rectangle 4"/>
          <p:cNvSpPr/>
          <p:nvPr/>
        </p:nvSpPr>
        <p:spPr>
          <a:xfrm>
            <a:off x="3474720" y="2011680"/>
            <a:ext cx="246888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3657600" y="2286000"/>
            <a:ext cx="2103120" cy="3291840"/>
          </a:xfrm>
          <a:prstGeom prst="rect">
            <a:avLst/>
          </a:prstGeom>
          <a:noFill/>
        </p:spPr>
        <p:txBody>
          <a:bodyPr wrap="square" lIns="0" tIns="0" rIns="0" bIns="0">
            <a:spAutoFit/>
          </a:bodyPr>
          <a:lstStyle/>
          <a:p>
            <a:pPr>
              <a:spcBef>
                <a:spcPts val="0"/>
              </a:spcBef>
              <a:defRPr sz="3200" b="1">
                <a:solidFill>
                  <a:srgbClr val="3FA68A"/>
                </a:solidFill>
                <a:latin typeface="Georgia"/>
              </a:defRPr>
            </a:pPr>
            <a:r>
              <a:t>02</a:t>
            </a:r>
          </a:p>
          <a:p>
            <a:pPr>
              <a:spcBef>
                <a:spcPts val="800"/>
              </a:spcBef>
              <a:defRPr sz="1800" b="1">
                <a:solidFill>
                  <a:srgbClr val="0B1B34"/>
                </a:solidFill>
                <a:latin typeface="Arial"/>
              </a:defRPr>
            </a:pPr>
            <a:r>
              <a:t>Explore</a:t>
            </a:r>
          </a:p>
          <a:p>
            <a:pPr>
              <a:spcBef>
                <a:spcPts val="400"/>
              </a:spcBef>
              <a:defRPr sz="1300" b="1">
                <a:solidFill>
                  <a:srgbClr val="475569"/>
                </a:solidFill>
                <a:latin typeface="Arial"/>
              </a:defRPr>
            </a:pPr>
            <a:r>
              <a:t>Interactive Local Map</a:t>
            </a:r>
          </a:p>
          <a:p>
            <a:pPr>
              <a:spcBef>
                <a:spcPts val="1000"/>
              </a:spcBef>
              <a:defRPr sz="1300" b="0">
                <a:solidFill>
                  <a:srgbClr val="475569"/>
                </a:solidFill>
                <a:latin typeface="Arial"/>
              </a:defRPr>
            </a:pPr>
            <a:r>
              <a:t>An interactive map displays geolocated clinics. Patients can filter by distance, rating, and provider credentials.</a:t>
            </a:r>
          </a:p>
        </p:txBody>
      </p:sp>
      <p:sp>
        <p:nvSpPr>
          <p:cNvPr id="7" name="Rounded Rectangle 6"/>
          <p:cNvSpPr/>
          <p:nvPr/>
        </p:nvSpPr>
        <p:spPr>
          <a:xfrm>
            <a:off x="6217920" y="2011680"/>
            <a:ext cx="246888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0" y="2286000"/>
            <a:ext cx="2103120" cy="3291840"/>
          </a:xfrm>
          <a:prstGeom prst="rect">
            <a:avLst/>
          </a:prstGeom>
          <a:noFill/>
        </p:spPr>
        <p:txBody>
          <a:bodyPr wrap="square" lIns="0" tIns="0" rIns="0" bIns="0">
            <a:spAutoFit/>
          </a:bodyPr>
          <a:lstStyle/>
          <a:p>
            <a:pPr>
              <a:spcBef>
                <a:spcPts val="0"/>
              </a:spcBef>
              <a:defRPr sz="3200" b="1">
                <a:solidFill>
                  <a:srgbClr val="3FA68A"/>
                </a:solidFill>
                <a:latin typeface="Georgia"/>
              </a:defRPr>
            </a:pPr>
            <a:r>
              <a:t>03</a:t>
            </a:r>
          </a:p>
          <a:p>
            <a:pPr>
              <a:spcBef>
                <a:spcPts val="800"/>
              </a:spcBef>
              <a:defRPr sz="1800" b="1">
                <a:solidFill>
                  <a:srgbClr val="0B1B34"/>
                </a:solidFill>
                <a:latin typeface="Arial"/>
              </a:defRPr>
            </a:pPr>
            <a:r>
              <a:t>Verify</a:t>
            </a:r>
          </a:p>
          <a:p>
            <a:pPr>
              <a:spcBef>
                <a:spcPts val="400"/>
              </a:spcBef>
              <a:defRPr sz="1300" b="1">
                <a:solidFill>
                  <a:srgbClr val="475569"/>
                </a:solidFill>
                <a:latin typeface="Arial"/>
              </a:defRPr>
            </a:pPr>
            <a:r>
              <a:t>Detailed Profiles</a:t>
            </a:r>
          </a:p>
          <a:p>
            <a:pPr>
              <a:spcBef>
                <a:spcPts val="1000"/>
              </a:spcBef>
              <a:defRPr sz="1300" b="0">
                <a:solidFill>
                  <a:srgbClr val="475569"/>
                </a:solidFill>
                <a:latin typeface="Arial"/>
              </a:defRPr>
            </a:pPr>
            <a:r>
              <a:t>The patient inspects the injector's verified state medical license, board certifications, and actual patient reviews.</a:t>
            </a:r>
          </a:p>
        </p:txBody>
      </p:sp>
      <p:sp>
        <p:nvSpPr>
          <p:cNvPr id="9" name="Rounded Rectangle 8"/>
          <p:cNvSpPr/>
          <p:nvPr/>
        </p:nvSpPr>
        <p:spPr>
          <a:xfrm>
            <a:off x="8961120" y="2011680"/>
            <a:ext cx="2468880" cy="384048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0" y="2286000"/>
            <a:ext cx="2103120" cy="3291840"/>
          </a:xfrm>
          <a:prstGeom prst="rect">
            <a:avLst/>
          </a:prstGeom>
          <a:noFill/>
        </p:spPr>
        <p:txBody>
          <a:bodyPr wrap="square" lIns="0" tIns="0" rIns="0" bIns="0">
            <a:spAutoFit/>
          </a:bodyPr>
          <a:lstStyle/>
          <a:p>
            <a:pPr>
              <a:spcBef>
                <a:spcPts val="0"/>
              </a:spcBef>
              <a:defRPr sz="3200" b="1">
                <a:solidFill>
                  <a:srgbClr val="3FA68A"/>
                </a:solidFill>
                <a:latin typeface="Georgia"/>
              </a:defRPr>
            </a:pPr>
            <a:r>
              <a:t>04</a:t>
            </a:r>
          </a:p>
          <a:p>
            <a:pPr>
              <a:spcBef>
                <a:spcPts val="800"/>
              </a:spcBef>
              <a:defRPr sz="1800" b="1">
                <a:solidFill>
                  <a:srgbClr val="0B1B34"/>
                </a:solidFill>
                <a:latin typeface="Arial"/>
              </a:defRPr>
            </a:pPr>
            <a:r>
              <a:t>Request</a:t>
            </a:r>
          </a:p>
          <a:p>
            <a:pPr>
              <a:spcBef>
                <a:spcPts val="400"/>
              </a:spcBef>
              <a:defRPr sz="1300" b="1">
                <a:solidFill>
                  <a:srgbClr val="475569"/>
                </a:solidFill>
                <a:latin typeface="Arial"/>
              </a:defRPr>
            </a:pPr>
            <a:r>
              <a:t>Instant Lead Intake</a:t>
            </a:r>
          </a:p>
          <a:p>
            <a:pPr>
              <a:spcBef>
                <a:spcPts val="1000"/>
              </a:spcBef>
              <a:defRPr sz="1300" b="0">
                <a:solidFill>
                  <a:srgbClr val="475569"/>
                </a:solidFill>
                <a:latin typeface="Arial"/>
              </a:defRPr>
            </a:pPr>
            <a:r>
              <a:t>The patient fills out a simple, 3-click contact form. The request saves immediately to the database and alerts the admin.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Built &amp; Ready: Frontend Features</a:t>
            </a:r>
          </a:p>
          <a:p>
            <a:pPr>
              <a:spcBef>
                <a:spcPts val="400"/>
              </a:spcBef>
              <a:defRPr sz="1400">
                <a:solidFill>
                  <a:srgbClr val="3FA68A"/>
                </a:solidFill>
                <a:latin typeface="Arial"/>
              </a:defRPr>
            </a:pPr>
            <a:r>
              <a:t>Interactive elements that drive patient engagement</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Interactive Local Maps</a:t>
            </a:r>
          </a:p>
          <a:p>
            <a:pPr>
              <a:spcBef>
                <a:spcPts val="600"/>
              </a:spcBef>
              <a:defRPr sz="1500" b="0">
                <a:solidFill>
                  <a:srgbClr val="475569"/>
                </a:solidFill>
                <a:latin typeface="Arial"/>
              </a:defRPr>
            </a:pPr>
            <a:r>
              <a:t>Using Leaflet.js with clean Carto tiles, the map displays provider locations with custom pins. The viewport automatically fits all active injectors in the search area.</a:t>
            </a:r>
          </a:p>
          <a:p>
            <a:pPr>
              <a:spcBef>
                <a:spcPts val="2000"/>
              </a:spcBef>
              <a:defRPr sz="1800" b="1">
                <a:solidFill>
                  <a:srgbClr val="0B1B34"/>
                </a:solidFill>
                <a:latin typeface="Arial"/>
              </a:defRPr>
            </a:pPr>
            <a:r>
              <a:t>Before/After Slider</a:t>
            </a:r>
          </a:p>
          <a:p>
            <a:pPr>
              <a:spcBef>
                <a:spcPts val="600"/>
              </a:spcBef>
              <a:defRPr sz="1500" b="0">
                <a:solidFill>
                  <a:srgbClr val="475569"/>
                </a:solidFill>
                <a:latin typeface="Arial"/>
              </a:defRPr>
            </a:pPr>
            <a:r>
              <a:t>An interactive drag-slider allows patients to swipe left and right to compare treatment results side-by-side. Touch jitter is prevented for a smooth mobile experience.</a:t>
            </a:r>
          </a:p>
          <a:p>
            <a:pPr>
              <a:spcBef>
                <a:spcPts val="2000"/>
              </a:spcBef>
              <a:defRPr sz="1800" b="1">
                <a:solidFill>
                  <a:srgbClr val="0B1B34"/>
                </a:solidFill>
                <a:latin typeface="Arial"/>
              </a:defRPr>
            </a:pPr>
            <a:r>
              <a:t>Sticky Mobile Action Button</a:t>
            </a:r>
          </a:p>
          <a:p>
            <a:pPr>
              <a:spcBef>
                <a:spcPts val="600"/>
              </a:spcBef>
              <a:defRPr sz="1500" b="0">
                <a:solidFill>
                  <a:srgbClr val="475569"/>
                </a:solidFill>
                <a:latin typeface="Arial"/>
              </a:defRPr>
            </a:pPr>
            <a:r>
              <a:t>A persistent call-to-action button floats at the bottom of the phone screen once the patient scrolls past the hero section, enabling easy, one-tap booking.</a:t>
            </a:r>
          </a:p>
        </p:txBody>
      </p:sp>
      <p:sp>
        <p:nvSpPr>
          <p:cNvPr id="4" name="Rounded Rectangle 3"/>
          <p:cNvSpPr/>
          <p:nvPr/>
        </p:nvSpPr>
        <p:spPr>
          <a:xfrm>
            <a:off x="6217920" y="1828800"/>
            <a:ext cx="5212080" cy="4114800"/>
          </a:xfrm>
          <a:prstGeom prst="roundRect">
            <a:avLst/>
          </a:prstGeom>
          <a:solidFill>
            <a:srgbClr val="E6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FRONTEND HIGHLIGHTS</a:t>
            </a:r>
          </a:p>
          <a:p>
            <a:pPr>
              <a:spcBef>
                <a:spcPts val="1000"/>
              </a:spcBef>
              <a:defRPr sz="2200" b="1">
                <a:solidFill>
                  <a:srgbClr val="0B1B34"/>
                </a:solidFill>
                <a:latin typeface="Georgia"/>
              </a:defRPr>
            </a:pPr>
            <a:r>
              <a:t>Buttery Smooth &amp; Interactive</a:t>
            </a:r>
          </a:p>
          <a:p>
            <a:pPr>
              <a:spcBef>
                <a:spcPts val="1200"/>
              </a:spcBef>
              <a:defRPr sz="1500" b="0">
                <a:solidFill>
                  <a:srgbClr val="475569"/>
                </a:solidFill>
                <a:latin typeface="Arial"/>
              </a:defRPr>
            </a:pPr>
            <a:r>
              <a:t>• Live Autocomplete: Instant suggestions for treatments and location matching.</a:t>
            </a:r>
          </a:p>
          <a:p>
            <a:pPr>
              <a:spcBef>
                <a:spcPts val="800"/>
              </a:spcBef>
              <a:defRPr sz="1500" b="0">
                <a:solidFill>
                  <a:srgbClr val="475569"/>
                </a:solidFill>
                <a:latin typeface="Arial"/>
              </a:defRPr>
            </a:pPr>
            <a:r>
              <a:t>• Dynamic Map Pins: Custom SVGs that expand on hover and highlight the selected provider.</a:t>
            </a:r>
          </a:p>
          <a:p>
            <a:pPr>
              <a:spcBef>
                <a:spcPts val="800"/>
              </a:spcBef>
              <a:defRPr sz="1500" b="0">
                <a:solidFill>
                  <a:srgbClr val="475569"/>
                </a:solidFill>
                <a:latin typeface="Arial"/>
              </a:defRPr>
            </a:pPr>
            <a:r>
              <a:t>• Responsive Layouts: 3-column grids on desktop collapse into easy-to-swipe carousels on mobile screens.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Built &amp; Ready: Backend &amp; Operations</a:t>
            </a:r>
          </a:p>
          <a:p>
            <a:pPr>
              <a:spcBef>
                <a:spcPts val="400"/>
              </a:spcBef>
              <a:defRPr sz="1400">
                <a:solidFill>
                  <a:srgbClr val="3FA68A"/>
                </a:solidFill>
                <a:latin typeface="Arial"/>
              </a:defRPr>
            </a:pPr>
            <a:r>
              <a:t>A robust content management and data integrity system</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Payload CMS 3.0 Integration</a:t>
            </a:r>
          </a:p>
          <a:p>
            <a:pPr>
              <a:spcBef>
                <a:spcPts val="600"/>
              </a:spcBef>
              <a:defRPr sz="1500" b="0">
                <a:solidFill>
                  <a:srgbClr val="475569"/>
                </a:solidFill>
                <a:latin typeface="Arial"/>
              </a:defRPr>
            </a:pPr>
            <a:r>
              <a:t>The website and the editing dashboard run on a single unified server. Marketing teams can manage all 18 content collections (reviews, clinic listings, guides) directly, without writing code.</a:t>
            </a:r>
          </a:p>
          <a:p>
            <a:pPr>
              <a:spcBef>
                <a:spcPts val="2000"/>
              </a:spcBef>
              <a:defRPr sz="1800" b="1">
                <a:solidFill>
                  <a:srgbClr val="0B1B34"/>
                </a:solidFill>
                <a:latin typeface="Arial"/>
              </a:defRPr>
            </a:pPr>
            <a:r>
              <a:t>Secure Audit Logging</a:t>
            </a:r>
          </a:p>
          <a:p>
            <a:pPr>
              <a:spcBef>
                <a:spcPts val="600"/>
              </a:spcBef>
              <a:defRPr sz="1500" b="0">
                <a:solidFill>
                  <a:srgbClr val="475569"/>
                </a:solidFill>
                <a:latin typeface="Arial"/>
              </a:defRPr>
            </a:pPr>
            <a:r>
              <a:t>An append-only security trail automatically tracks who made what change and when across critical collections. This prevents data tampering and accidental deletions.</a:t>
            </a:r>
          </a:p>
          <a:p>
            <a:pPr>
              <a:spcBef>
                <a:spcPts val="2000"/>
              </a:spcBef>
              <a:defRPr sz="1800" b="1">
                <a:solidFill>
                  <a:srgbClr val="0B1B34"/>
                </a:solidFill>
                <a:latin typeface="Arial"/>
              </a:defRPr>
            </a:pPr>
            <a:r>
              <a:t>Anti-Spam &amp; Rate Limiting</a:t>
            </a:r>
          </a:p>
          <a:p>
            <a:pPr>
              <a:spcBef>
                <a:spcPts val="600"/>
              </a:spcBef>
              <a:defRPr sz="1500" b="0">
                <a:solidFill>
                  <a:srgbClr val="475569"/>
                </a:solidFill>
                <a:latin typeface="Arial"/>
              </a:defRPr>
            </a:pPr>
            <a:r>
              <a:t>API endpoints are guarded against spam. Patient bookings and profile claim requests are rate-limited to prevent bot submissions.</a:t>
            </a:r>
          </a:p>
        </p:txBody>
      </p:sp>
      <p:sp>
        <p:nvSpPr>
          <p:cNvPr id="4" name="Rounded Rectangle 3"/>
          <p:cNvSpPr/>
          <p:nvPr/>
        </p:nvSpPr>
        <p:spPr>
          <a:xfrm>
            <a:off x="6217920" y="182880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DATA INTEGRITY WIDGET</a:t>
            </a:r>
          </a:p>
          <a:p>
            <a:pPr>
              <a:spcBef>
                <a:spcPts val="1000"/>
              </a:spcBef>
              <a:defRPr sz="2200" b="1">
                <a:solidFill>
                  <a:srgbClr val="0B1B34"/>
                </a:solidFill>
                <a:latin typeface="Georgia"/>
              </a:defRPr>
            </a:pPr>
            <a:r>
              <a:t>The Self-Healing Database</a:t>
            </a:r>
          </a:p>
          <a:p>
            <a:pPr>
              <a:spcBef>
                <a:spcPts val="1000"/>
              </a:spcBef>
              <a:defRPr sz="1500" b="0">
                <a:solidFill>
                  <a:srgbClr val="475569"/>
                </a:solidFill>
                <a:latin typeface="Arial"/>
              </a:defRPr>
            </a:pPr>
            <a:r>
              <a:t>We built a backend 'DataAlerts' scanning system that automatically flags errors to the admin, including:</a:t>
            </a:r>
          </a:p>
          <a:p>
            <a:pPr>
              <a:spcBef>
                <a:spcPts val="800"/>
              </a:spcBef>
              <a:defRPr sz="1400" b="0">
                <a:solidFill>
                  <a:srgbClr val="475569"/>
                </a:solidFill>
                <a:latin typeface="Arial"/>
              </a:defRPr>
            </a:pPr>
            <a:r>
              <a:t>• Duplicate license numbers or clinic records.</a:t>
            </a:r>
            <a:br/>
            <a:r>
              <a:t>• Providers listed without a linked clinic.</a:t>
            </a:r>
            <a:br/>
            <a:r>
              <a:t>• Published pages missing a photo or verified license.</a:t>
            </a:r>
            <a:br/>
            <a:r>
              <a:t>• Out-of-bounds promotional dates.</a:t>
            </a:r>
            <a:br/>
            <a:br/>
            <a:r>
              <a:t>Fixing the issue automatically resolves the alert.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Platform Monetization Mechanics</a:t>
            </a:r>
          </a:p>
          <a:p>
            <a:pPr>
              <a:spcBef>
                <a:spcPts val="400"/>
              </a:spcBef>
              <a:defRPr sz="1400">
                <a:solidFill>
                  <a:srgbClr val="3FA68A"/>
                </a:solidFill>
                <a:latin typeface="Arial"/>
              </a:defRPr>
            </a:pPr>
            <a:r>
              <a:t>Three transparent tiers that balance revenue and patient trust</a:t>
            </a:r>
          </a:p>
        </p:txBody>
      </p:sp>
      <p:sp>
        <p:nvSpPr>
          <p:cNvPr id="3" name="Rounded Rectangle 2"/>
          <p:cNvSpPr/>
          <p:nvPr/>
        </p:nvSpPr>
        <p:spPr>
          <a:xfrm>
            <a:off x="7315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1005840" y="2194560"/>
            <a:ext cx="274320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TIER 01</a:t>
            </a:r>
          </a:p>
          <a:p>
            <a:pPr>
              <a:spcBef>
                <a:spcPts val="1000"/>
              </a:spcBef>
              <a:defRPr sz="2200" b="1">
                <a:solidFill>
                  <a:srgbClr val="0B1B34"/>
                </a:solidFill>
                <a:latin typeface="Georgia"/>
              </a:defRPr>
            </a:pPr>
            <a:r>
              <a:t>Organic Merit</a:t>
            </a:r>
          </a:p>
          <a:p>
            <a:pPr>
              <a:spcBef>
                <a:spcPts val="400"/>
              </a:spcBef>
              <a:defRPr sz="1400" b="1">
                <a:solidFill>
                  <a:srgbClr val="475569"/>
                </a:solidFill>
                <a:latin typeface="Arial"/>
              </a:defRPr>
            </a:pPr>
            <a:r>
              <a:t>Free Listings</a:t>
            </a:r>
          </a:p>
          <a:p>
            <a:pPr>
              <a:spcBef>
                <a:spcPts val="1200"/>
              </a:spcBef>
              <a:defRPr sz="1300" b="0">
                <a:solidFill>
                  <a:srgbClr val="475569"/>
                </a:solidFill>
                <a:latin typeface="Arial"/>
              </a:defRPr>
            </a:pPr>
            <a:r>
              <a:t>Our ranking algorithm is merit-based. Providers rank high based on positive reviews, license validity, completeness of profile, and response rates. Injectors cannot pay to rank higher in organic searches, maintaining true patient trust.</a:t>
            </a:r>
          </a:p>
        </p:txBody>
      </p:sp>
      <p:sp>
        <p:nvSpPr>
          <p:cNvPr id="5" name="Rounded Rectangle 4"/>
          <p:cNvSpPr/>
          <p:nvPr/>
        </p:nvSpPr>
        <p:spPr>
          <a:xfrm>
            <a:off x="43891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4663440" y="2194560"/>
            <a:ext cx="274320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TIER 02</a:t>
            </a:r>
          </a:p>
          <a:p>
            <a:pPr>
              <a:spcBef>
                <a:spcPts val="1000"/>
              </a:spcBef>
              <a:defRPr sz="2200" b="1">
                <a:solidFill>
                  <a:srgbClr val="0B1B34"/>
                </a:solidFill>
                <a:latin typeface="Georgia"/>
              </a:defRPr>
            </a:pPr>
            <a:r>
              <a:t>Sponsored Cards</a:t>
            </a:r>
          </a:p>
          <a:p>
            <a:pPr>
              <a:spcBef>
                <a:spcPts val="400"/>
              </a:spcBef>
              <a:defRPr sz="1400" b="1">
                <a:solidFill>
                  <a:srgbClr val="475569"/>
                </a:solidFill>
                <a:latin typeface="Arial"/>
              </a:defRPr>
            </a:pPr>
            <a:r>
              <a:t>Premium Placements</a:t>
            </a:r>
          </a:p>
          <a:p>
            <a:pPr>
              <a:spcBef>
                <a:spcPts val="1200"/>
              </a:spcBef>
              <a:defRPr sz="1300" b="0">
                <a:solidFill>
                  <a:srgbClr val="475569"/>
                </a:solidFill>
                <a:latin typeface="Arial"/>
              </a:defRPr>
            </a:pPr>
            <a:r>
              <a:t>Clinics can pay to pin themselves in the top 3 spots of a city directory. To prevent a cluttered look, our database uses hard codes that strictly block a 4th slot from ever being created or sold.</a:t>
            </a:r>
          </a:p>
        </p:txBody>
      </p:sp>
      <p:sp>
        <p:nvSpPr>
          <p:cNvPr id="7" name="Rounded Rectangle 6"/>
          <p:cNvSpPr/>
          <p:nvPr/>
        </p:nvSpPr>
        <p:spPr>
          <a:xfrm>
            <a:off x="8046720" y="1828800"/>
            <a:ext cx="329184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0" y="2194560"/>
            <a:ext cx="274320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TIER 03</a:t>
            </a:r>
          </a:p>
          <a:p>
            <a:pPr>
              <a:spcBef>
                <a:spcPts val="1000"/>
              </a:spcBef>
              <a:defRPr sz="2200" b="1">
                <a:solidFill>
                  <a:srgbClr val="0B1B34"/>
                </a:solidFill>
                <a:latin typeface="Georgia"/>
              </a:defRPr>
            </a:pPr>
            <a:r>
              <a:t>Editorial Banners</a:t>
            </a:r>
          </a:p>
          <a:p>
            <a:pPr>
              <a:spcBef>
                <a:spcPts val="400"/>
              </a:spcBef>
              <a:defRPr sz="1400" b="1">
                <a:solidFill>
                  <a:srgbClr val="475569"/>
                </a:solidFill>
                <a:latin typeface="Arial"/>
              </a:defRPr>
            </a:pPr>
            <a:r>
              <a:t>Display Advertising</a:t>
            </a:r>
          </a:p>
          <a:p>
            <a:pPr>
              <a:spcBef>
                <a:spcPts val="1200"/>
              </a:spcBef>
              <a:defRPr sz="1300" b="0">
                <a:solidFill>
                  <a:srgbClr val="475569"/>
                </a:solidFill>
                <a:latin typeface="Arial"/>
              </a:defRPr>
            </a:pPr>
            <a:r>
              <a:t>High-impact, elegant banners can be placed at the top of listing pages. These are reserved for premium partner announcements and are styled strictly in accordance with our clean visual guidelines.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Provider Claiming &amp; Private Console</a:t>
            </a:r>
          </a:p>
          <a:p>
            <a:pPr>
              <a:spcBef>
                <a:spcPts val="400"/>
              </a:spcBef>
              <a:defRPr sz="1400">
                <a:solidFill>
                  <a:srgbClr val="3FA68A"/>
                </a:solidFill>
                <a:latin typeface="Arial"/>
              </a:defRPr>
            </a:pPr>
            <a:r>
              <a:t>How injectors claim their profiles and manage listings</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The Claiming Flow</a:t>
            </a:r>
          </a:p>
          <a:p>
            <a:pPr>
              <a:spcBef>
                <a:spcPts val="600"/>
              </a:spcBef>
              <a:defRPr sz="1500" b="0">
                <a:solidFill>
                  <a:srgbClr val="475569"/>
                </a:solidFill>
                <a:latin typeface="Arial"/>
              </a:defRPr>
            </a:pPr>
            <a:r>
              <a:t>An injector finds their unclaimed profile in our directory and clicks 'Claim this profile'. They enter their email, state license number, and national clinical registry number (NPI). The admin reviews the request in the admin panel and approves it, link-matching the provider profile to their user account.</a:t>
            </a:r>
          </a:p>
          <a:p>
            <a:pPr>
              <a:spcBef>
                <a:spcPts val="2000"/>
              </a:spcBef>
              <a:defRPr sz="1800" b="1">
                <a:solidFill>
                  <a:srgbClr val="0B1B34"/>
                </a:solidFill>
                <a:latin typeface="Arial"/>
              </a:defRPr>
            </a:pPr>
            <a:r>
              <a:t>Dashboard Control Limits</a:t>
            </a:r>
          </a:p>
          <a:p>
            <a:pPr>
              <a:spcBef>
                <a:spcPts val="600"/>
              </a:spcBef>
              <a:defRPr sz="1500" b="0">
                <a:solidFill>
                  <a:srgbClr val="475569"/>
                </a:solidFill>
                <a:latin typeface="Arial"/>
              </a:defRPr>
            </a:pPr>
            <a:r>
              <a:t>Once approved, injectors can log in to edit their bio, business hours, treatment prices, and direct booking links. To protect integrity, the system strictly blocks them from editing their licensing details, verified badges, or patient reviews.</a:t>
            </a:r>
          </a:p>
        </p:txBody>
      </p:sp>
      <p:sp>
        <p:nvSpPr>
          <p:cNvPr id="4" name="Rounded Rectangle 3"/>
          <p:cNvSpPr/>
          <p:nvPr/>
        </p:nvSpPr>
        <p:spPr>
          <a:xfrm>
            <a:off x="6217920" y="182880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CLAIM SECURITY CHECKS</a:t>
            </a:r>
          </a:p>
          <a:p>
            <a:pPr>
              <a:spcBef>
                <a:spcPts val="1000"/>
              </a:spcBef>
              <a:defRPr sz="2200" b="1">
                <a:solidFill>
                  <a:srgbClr val="0B1B34"/>
                </a:solidFill>
                <a:latin typeface="Georgia"/>
              </a:defRPr>
            </a:pPr>
            <a:r>
              <a:t>Guarding Trust Badges</a:t>
            </a:r>
          </a:p>
          <a:p>
            <a:pPr>
              <a:spcBef>
                <a:spcPts val="1200"/>
              </a:spcBef>
              <a:defRPr sz="1500" b="0">
                <a:solidFill>
                  <a:srgbClr val="475569"/>
                </a:solidFill>
                <a:latin typeface="Arial"/>
              </a:defRPr>
            </a:pPr>
            <a:r>
              <a:t>• Identity Matching: Claim requests must match the email domain of the clinic's public website.</a:t>
            </a:r>
          </a:p>
          <a:p>
            <a:pPr>
              <a:spcBef>
                <a:spcPts val="800"/>
              </a:spcBef>
              <a:defRPr sz="1500" b="0">
                <a:solidFill>
                  <a:srgbClr val="475569"/>
                </a:solidFill>
                <a:latin typeface="Arial"/>
              </a:defRPr>
            </a:pPr>
            <a:r>
              <a:t>• Hard-coded Block list: Any network request attempting to modify rating scores, reviews, or license status is instantly rejected by the server.</a:t>
            </a:r>
          </a:p>
          <a:p>
            <a:pPr>
              <a:spcBef>
                <a:spcPts val="800"/>
              </a:spcBef>
              <a:defRPr sz="1500" b="0">
                <a:solidFill>
                  <a:srgbClr val="475569"/>
                </a:solidFill>
                <a:latin typeface="Arial"/>
              </a:defRPr>
            </a:pPr>
            <a:r>
              <a:t>• Quick Re-claims: If a provider moves clinics, the admin dashboard logs audit trails of clinic ownership change.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Launch Strategy &amp; Data Plan</a:t>
            </a:r>
          </a:p>
          <a:p>
            <a:pPr>
              <a:spcBef>
                <a:spcPts val="400"/>
              </a:spcBef>
              <a:defRPr sz="1400">
                <a:solidFill>
                  <a:srgbClr val="3FA68A"/>
                </a:solidFill>
                <a:latin typeface="Arial"/>
              </a:defRPr>
            </a:pPr>
            <a:r>
              <a:t>Focusing our initial efforts to win primary markets first</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Three Primary Launch Markets</a:t>
            </a:r>
          </a:p>
          <a:p>
            <a:pPr>
              <a:spcBef>
                <a:spcPts val="600"/>
              </a:spcBef>
              <a:defRPr sz="1500" b="0">
                <a:solidFill>
                  <a:srgbClr val="475569"/>
                </a:solidFill>
                <a:latin typeface="Arial"/>
              </a:defRPr>
            </a:pPr>
            <a:r>
              <a:t>To ensure high data quality, we are launching with fully seeded, verified injector listings in three primary metropolitan areas: Houston TX, New York City NY, and Los Angeles CA.</a:t>
            </a:r>
          </a:p>
          <a:p>
            <a:pPr>
              <a:spcBef>
                <a:spcPts val="2000"/>
              </a:spcBef>
              <a:defRPr sz="1800" b="1">
                <a:solidFill>
                  <a:srgbClr val="0B1B34"/>
                </a:solidFill>
                <a:latin typeface="Arial"/>
              </a:defRPr>
            </a:pPr>
            <a:r>
              <a:t>Waitlists for Other Cities</a:t>
            </a:r>
          </a:p>
          <a:p>
            <a:pPr>
              <a:spcBef>
                <a:spcPts val="600"/>
              </a:spcBef>
              <a:defRPr sz="1500" b="0">
                <a:solidFill>
                  <a:srgbClr val="475569"/>
                </a:solidFill>
                <a:latin typeface="Arial"/>
              </a:defRPr>
            </a:pPr>
            <a:r>
              <a:t>Every other major city page will render a premium 'Coming Soon' layout. Patients can enter their email to join a waitlist, signaling which cities have the highest demand for our next data scraping phase.</a:t>
            </a:r>
          </a:p>
        </p:txBody>
      </p:sp>
      <p:sp>
        <p:nvSpPr>
          <p:cNvPr id="4" name="Rounded Rectangle 3"/>
          <p:cNvSpPr/>
          <p:nvPr/>
        </p:nvSpPr>
        <p:spPr>
          <a:xfrm>
            <a:off x="6217920" y="1828800"/>
            <a:ext cx="5212080" cy="4114800"/>
          </a:xfrm>
          <a:prstGeom prst="roundRect">
            <a:avLst/>
          </a:prstGeom>
          <a:solidFill>
            <a:srgbClr val="E6F2E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SEARCH ENGINE SAFETY</a:t>
            </a:r>
          </a:p>
          <a:p>
            <a:pPr>
              <a:spcBef>
                <a:spcPts val="1000"/>
              </a:spcBef>
              <a:defRPr sz="2200" b="1">
                <a:solidFill>
                  <a:srgbClr val="0B1B34"/>
                </a:solidFill>
                <a:latin typeface="Georgia"/>
              </a:defRPr>
            </a:pPr>
            <a:r>
              <a:t>Avoiding SEO Penalties</a:t>
            </a:r>
          </a:p>
          <a:p>
            <a:pPr>
              <a:spcBef>
                <a:spcPts val="1000"/>
              </a:spcBef>
              <a:defRPr sz="1500" b="0">
                <a:solidFill>
                  <a:srgbClr val="475569"/>
                </a:solidFill>
                <a:latin typeface="Arial"/>
              </a:defRPr>
            </a:pPr>
            <a:r>
              <a:t>Having thousands of empty directory pages can cause Google to flag the website for 'thin content' and lower our search ranking.</a:t>
            </a:r>
          </a:p>
          <a:p>
            <a:pPr>
              <a:spcBef>
                <a:spcPts val="1000"/>
              </a:spcBef>
              <a:defRPr sz="1500" b="0">
                <a:solidFill>
                  <a:srgbClr val="475569"/>
                </a:solidFill>
                <a:latin typeface="Arial"/>
              </a:defRPr>
            </a:pPr>
            <a:r>
              <a:t>• Noindex Safeguard: All 'Coming Soon' city directories are automatically set to 'noindex' so Google's crawlers ignore them.</a:t>
            </a:r>
          </a:p>
          <a:p>
            <a:pPr>
              <a:spcBef>
                <a:spcPts val="800"/>
              </a:spcBef>
              <a:defRPr sz="1500" b="0">
                <a:solidFill>
                  <a:srgbClr val="475569"/>
                </a:solidFill>
                <a:latin typeface="Arial"/>
              </a:defRPr>
            </a:pPr>
            <a:r>
              <a:t>• Automatic Indexing: As soon as real clinics are imported into a city, the page automatically turns to 'index' and is submitted to search engines.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Final Milestones Before Go-Live</a:t>
            </a:r>
          </a:p>
          <a:p>
            <a:pPr>
              <a:spcBef>
                <a:spcPts val="400"/>
              </a:spcBef>
              <a:defRPr sz="1400">
                <a:solidFill>
                  <a:srgbClr val="3FA68A"/>
                </a:solidFill>
                <a:latin typeface="Arial"/>
              </a:defRPr>
            </a:pPr>
            <a:r>
              <a:t>The checklist to prepare the platform for public release</a:t>
            </a:r>
          </a:p>
        </p:txBody>
      </p:sp>
      <p:sp>
        <p:nvSpPr>
          <p:cNvPr id="3" name="TextBox 2"/>
          <p:cNvSpPr txBox="1"/>
          <p:nvPr/>
        </p:nvSpPr>
        <p:spPr>
          <a:xfrm>
            <a:off x="731520" y="1828800"/>
            <a:ext cx="5029200" cy="4114800"/>
          </a:xfrm>
          <a:prstGeom prst="rect">
            <a:avLst/>
          </a:prstGeom>
          <a:noFill/>
        </p:spPr>
        <p:txBody>
          <a:bodyPr wrap="square" lIns="0" tIns="0" rIns="0" bIns="0">
            <a:spAutoFit/>
          </a:bodyPr>
          <a:lstStyle/>
          <a:p>
            <a:pPr>
              <a:spcBef>
                <a:spcPts val="0"/>
              </a:spcBef>
              <a:defRPr sz="1800" b="1">
                <a:solidFill>
                  <a:srgbClr val="0B1B34"/>
                </a:solidFill>
                <a:latin typeface="Arial"/>
              </a:defRPr>
            </a:pPr>
            <a:r>
              <a:t>Hosting &amp; Environment Setup</a:t>
            </a:r>
          </a:p>
          <a:p>
            <a:pPr>
              <a:spcBef>
                <a:spcPts val="600"/>
              </a:spcBef>
              <a:defRPr sz="1500" b="0">
                <a:solidFill>
                  <a:srgbClr val="475569"/>
                </a:solidFill>
                <a:latin typeface="Arial"/>
              </a:defRPr>
            </a:pPr>
            <a:r>
              <a:t>We need to migrate the platform from our local test environment to a live DigitalOcean hosting setup. We will set up a managed database and establish secure SSL certificates.</a:t>
            </a:r>
          </a:p>
          <a:p>
            <a:pPr>
              <a:spcBef>
                <a:spcPts val="2000"/>
              </a:spcBef>
              <a:defRPr sz="1800" b="1">
                <a:solidFill>
                  <a:srgbClr val="0B1B34"/>
                </a:solidFill>
                <a:latin typeface="Arial"/>
              </a:defRPr>
            </a:pPr>
            <a:r>
              <a:t>Secure Media Buckets</a:t>
            </a:r>
          </a:p>
          <a:p>
            <a:pPr>
              <a:spcBef>
                <a:spcPts val="600"/>
              </a:spcBef>
              <a:defRPr sz="1500" b="0">
                <a:solidFill>
                  <a:srgbClr val="475569"/>
                </a:solidFill>
                <a:latin typeface="Arial"/>
              </a:defRPr>
            </a:pPr>
            <a:r>
              <a:t>We need to link the CMS to DigitalOcean Spaces. This ensures that when injectors upload photos, they are stored securely in a dedicated bucket, rather than locally on the web server.</a:t>
            </a:r>
          </a:p>
          <a:p>
            <a:pPr>
              <a:spcBef>
                <a:spcPts val="2000"/>
              </a:spcBef>
              <a:defRPr sz="1800" b="1">
                <a:solidFill>
                  <a:srgbClr val="0B1B34"/>
                </a:solidFill>
                <a:latin typeface="Arial"/>
              </a:defRPr>
            </a:pPr>
            <a:r>
              <a:t>Email Notifications</a:t>
            </a:r>
          </a:p>
          <a:p>
            <a:pPr>
              <a:spcBef>
                <a:spcPts val="600"/>
              </a:spcBef>
              <a:defRPr sz="1500" b="0">
                <a:solidFill>
                  <a:srgbClr val="475569"/>
                </a:solidFill>
                <a:latin typeface="Arial"/>
              </a:defRPr>
            </a:pPr>
            <a:r>
              <a:t>We need to connect our Resend API keys. This will trigger automated emails to the patient ('Request received') and the clinic ('New booking request') when forms are submitted.</a:t>
            </a:r>
          </a:p>
        </p:txBody>
      </p:sp>
      <p:sp>
        <p:nvSpPr>
          <p:cNvPr id="4" name="Rounded Rectangle 3"/>
          <p:cNvSpPr/>
          <p:nvPr/>
        </p:nvSpPr>
        <p:spPr>
          <a:xfrm>
            <a:off x="6217920" y="1828800"/>
            <a:ext cx="5212080" cy="4114800"/>
          </a:xfrm>
          <a:prstGeom prst="round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583680" y="2194560"/>
            <a:ext cx="4480560" cy="3383280"/>
          </a:xfrm>
          <a:prstGeom prst="rect">
            <a:avLst/>
          </a:prstGeom>
          <a:noFill/>
        </p:spPr>
        <p:txBody>
          <a:bodyPr wrap="square" lIns="0" tIns="0" rIns="0" bIns="0">
            <a:spAutoFit/>
          </a:bodyPr>
          <a:lstStyle/>
          <a:p>
            <a:pPr>
              <a:spcBef>
                <a:spcPts val="0"/>
              </a:spcBef>
              <a:defRPr sz="1400" b="1">
                <a:solidFill>
                  <a:srgbClr val="3FA68A"/>
                </a:solidFill>
                <a:latin typeface="Arial"/>
              </a:defRPr>
            </a:pPr>
            <a:r>
              <a:t>CONTENT REQUIREMENTS</a:t>
            </a:r>
          </a:p>
          <a:p>
            <a:pPr>
              <a:spcBef>
                <a:spcPts val="1000"/>
              </a:spcBef>
              <a:defRPr sz="2200" b="1">
                <a:solidFill>
                  <a:srgbClr val="0B1B34"/>
                </a:solidFill>
                <a:latin typeface="Georgia"/>
              </a:defRPr>
            </a:pPr>
            <a:r>
              <a:t>Replacing Test Placeholders</a:t>
            </a:r>
          </a:p>
          <a:p>
            <a:pPr>
              <a:spcBef>
                <a:spcPts val="1200"/>
              </a:spcBef>
              <a:defRPr sz="1500" b="0">
                <a:solidFill>
                  <a:srgbClr val="475569"/>
                </a:solidFill>
                <a:latin typeface="Arial"/>
              </a:defRPr>
            </a:pPr>
            <a:r>
              <a:t>Before we go live, we must swap mock data for real materials:</a:t>
            </a:r>
          </a:p>
          <a:p>
            <a:pPr>
              <a:spcBef>
                <a:spcPts val="1000"/>
              </a:spcBef>
              <a:defRPr sz="1500" b="0">
                <a:solidFill>
                  <a:srgbClr val="475569"/>
                </a:solidFill>
                <a:latin typeface="Arial"/>
              </a:defRPr>
            </a:pPr>
            <a:r>
              <a:t>• Real Headshots: Replace dummy internet avatars with authentic photos of our physicians and nurses.</a:t>
            </a:r>
          </a:p>
          <a:p>
            <a:pPr>
              <a:spcBef>
                <a:spcPts val="1000"/>
              </a:spcBef>
              <a:defRPr sz="1500" b="0">
                <a:solidFill>
                  <a:srgbClr val="475569"/>
                </a:solidFill>
                <a:latin typeface="Arial"/>
              </a:defRPr>
            </a:pPr>
            <a:r>
              <a:t>• Consent Forms: Ensure all before/after clinical cases have signed marketing consents logged in the database.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AF7F2"/>
        </a:solidFill>
        <a:effectLst/>
      </p:bgPr>
    </p:bg>
    <p:spTree>
      <p:nvGrpSpPr>
        <p:cNvPr id="1" name=""/>
        <p:cNvGrpSpPr/>
        <p:nvPr/>
      </p:nvGrpSpPr>
      <p:grpSpPr/>
      <p:sp>
        <p:nvSpPr>
          <p:cNvPr id="2" name="TextBox 1"/>
          <p:cNvSpPr txBox="1"/>
          <p:nvPr/>
        </p:nvSpPr>
        <p:spPr>
          <a:xfrm>
            <a:off x="731520" y="457200"/>
            <a:ext cx="10698480" cy="1097280"/>
          </a:xfrm>
          <a:prstGeom prst="rect">
            <a:avLst/>
          </a:prstGeom>
          <a:noFill/>
        </p:spPr>
        <p:txBody>
          <a:bodyPr wrap="square" lIns="0" tIns="0" rIns="0" bIns="0">
            <a:spAutoFit/>
          </a:bodyPr>
          <a:lstStyle/>
          <a:p>
            <a:pPr>
              <a:defRPr sz="3200" b="1">
                <a:solidFill>
                  <a:srgbClr val="0B1B34"/>
                </a:solidFill>
                <a:latin typeface="Georgia"/>
              </a:defRPr>
            </a:pPr>
            <a:r>
              <a:t>Future Roadmap &amp; Phase 2</a:t>
            </a:r>
          </a:p>
          <a:p>
            <a:pPr>
              <a:spcBef>
                <a:spcPts val="400"/>
              </a:spcBef>
              <a:defRPr sz="1400">
                <a:solidFill>
                  <a:srgbClr val="3FA68A"/>
                </a:solidFill>
                <a:latin typeface="Arial"/>
              </a:defRPr>
            </a:pPr>
            <a:r>
              <a:t>Strategic additions to scale user engagement post-launch</a:t>
            </a:r>
          </a:p>
        </p:txBody>
      </p:sp>
      <p:sp>
        <p:nvSpPr>
          <p:cNvPr id="3" name="TextBox 2"/>
          <p:cNvSpPr txBox="1"/>
          <p:nvPr/>
        </p:nvSpPr>
        <p:spPr>
          <a:xfrm>
            <a:off x="731520" y="1828800"/>
            <a:ext cx="3291840" cy="4114800"/>
          </a:xfrm>
          <a:prstGeom prst="rect">
            <a:avLst/>
          </a:prstGeom>
          <a:noFill/>
        </p:spPr>
        <p:txBody>
          <a:bodyPr wrap="square" lIns="0" tIns="0" rIns="0" bIns="0">
            <a:spAutoFit/>
          </a:bodyPr>
          <a:lstStyle/>
          <a:p>
            <a:pPr>
              <a:spcBef>
                <a:spcPts val="0"/>
              </a:spcBef>
              <a:defRPr sz="1300" b="1">
                <a:solidFill>
                  <a:srgbClr val="3FA68A"/>
                </a:solidFill>
                <a:latin typeface="Arial"/>
              </a:defRPr>
            </a:pPr>
            <a:r>
              <a:t>INTERACTIVE TOOLS</a:t>
            </a:r>
          </a:p>
          <a:p>
            <a:pPr>
              <a:spcBef>
                <a:spcPts val="1000"/>
              </a:spcBef>
              <a:defRPr sz="2000" b="1">
                <a:solidFill>
                  <a:srgbClr val="0B1B34"/>
                </a:solidFill>
                <a:latin typeface="Georgia"/>
              </a:defRPr>
            </a:pPr>
            <a:r>
              <a:t>Engaging Patients</a:t>
            </a:r>
          </a:p>
          <a:p>
            <a:pPr>
              <a:spcBef>
                <a:spcPts val="1200"/>
              </a:spcBef>
              <a:defRPr sz="1400" b="0">
                <a:solidFill>
                  <a:srgbClr val="475569"/>
                </a:solidFill>
                <a:latin typeface="Arial"/>
              </a:defRPr>
            </a:pPr>
            <a:r>
              <a:t>• Worth-It % Score: Standard satisfaction ratings for each treatment category.</a:t>
            </a:r>
          </a:p>
          <a:p>
            <a:pPr>
              <a:spcBef>
                <a:spcPts val="1000"/>
              </a:spcBef>
              <a:defRPr sz="1400" b="0">
                <a:solidFill>
                  <a:srgbClr val="475569"/>
                </a:solidFill>
                <a:latin typeface="Arial"/>
              </a:defRPr>
            </a:pPr>
            <a:r>
              <a:t>• Candidate Quiz: Interactive filters to help patients identify appropriate treatments based on budget and concern area.</a:t>
            </a:r>
          </a:p>
          <a:p>
            <a:pPr>
              <a:spcBef>
                <a:spcPts val="1000"/>
              </a:spcBef>
              <a:defRPr sz="1400" b="0">
                <a:solidFill>
                  <a:srgbClr val="475569"/>
                </a:solidFill>
                <a:latin typeface="Arial"/>
              </a:defRPr>
            </a:pPr>
            <a:r>
              <a:t>• Cost Calculator: Regional average cost displays updated monthly from database entries.</a:t>
            </a:r>
          </a:p>
        </p:txBody>
      </p:sp>
      <p:sp>
        <p:nvSpPr>
          <p:cNvPr id="4" name="TextBox 3"/>
          <p:cNvSpPr txBox="1"/>
          <p:nvPr/>
        </p:nvSpPr>
        <p:spPr>
          <a:xfrm>
            <a:off x="4389120" y="1828800"/>
            <a:ext cx="3291840" cy="4114800"/>
          </a:xfrm>
          <a:prstGeom prst="rect">
            <a:avLst/>
          </a:prstGeom>
          <a:noFill/>
        </p:spPr>
        <p:txBody>
          <a:bodyPr wrap="square" lIns="0" tIns="0" rIns="0" bIns="0">
            <a:spAutoFit/>
          </a:bodyPr>
          <a:lstStyle/>
          <a:p>
            <a:pPr>
              <a:spcBef>
                <a:spcPts val="0"/>
              </a:spcBef>
              <a:defRPr sz="1300" b="1">
                <a:solidFill>
                  <a:srgbClr val="3FA68A"/>
                </a:solidFill>
                <a:latin typeface="Arial"/>
              </a:defRPr>
            </a:pPr>
            <a:r>
              <a:t>COMMUNITY HUB</a:t>
            </a:r>
          </a:p>
          <a:p>
            <a:pPr>
              <a:spcBef>
                <a:spcPts val="1000"/>
              </a:spcBef>
              <a:defRPr sz="2000" b="1">
                <a:solidFill>
                  <a:srgbClr val="0B1B34"/>
                </a:solidFill>
                <a:latin typeface="Georgia"/>
              </a:defRPr>
            </a:pPr>
            <a:r>
              <a:t>SEO &amp; Authority</a:t>
            </a:r>
          </a:p>
          <a:p>
            <a:pPr>
              <a:spcBef>
                <a:spcPts val="1200"/>
              </a:spcBef>
              <a:defRPr sz="1400" b="0">
                <a:solidFill>
                  <a:srgbClr val="475569"/>
                </a:solidFill>
                <a:latin typeface="Arial"/>
              </a:defRPr>
            </a:pPr>
            <a:r>
              <a:t>• Q&amp;A Forum: A public board where patients submit questions (e.g., 'Does Masseter Botox hurt?') and verified local injectors write responses.</a:t>
            </a:r>
          </a:p>
          <a:p>
            <a:pPr>
              <a:spcBef>
                <a:spcPts val="1000"/>
              </a:spcBef>
              <a:defRPr sz="1400" b="0">
                <a:solidFill>
                  <a:srgbClr val="475569"/>
                </a:solidFill>
                <a:latin typeface="Arial"/>
              </a:defRPr>
            </a:pPr>
            <a:r>
              <a:t>• Organic Traffic Loop: Every Q&amp;A gets structured FAQ schema, generating search visibility for specific queries.</a:t>
            </a:r>
          </a:p>
        </p:txBody>
      </p:sp>
      <p:sp>
        <p:nvSpPr>
          <p:cNvPr id="5" name="TextBox 4"/>
          <p:cNvSpPr txBox="1"/>
          <p:nvPr/>
        </p:nvSpPr>
        <p:spPr>
          <a:xfrm>
            <a:off x="8046720" y="1828800"/>
            <a:ext cx="3291840" cy="4114800"/>
          </a:xfrm>
          <a:prstGeom prst="rect">
            <a:avLst/>
          </a:prstGeom>
          <a:noFill/>
        </p:spPr>
        <p:txBody>
          <a:bodyPr wrap="square" lIns="0" tIns="0" rIns="0" bIns="0">
            <a:spAutoFit/>
          </a:bodyPr>
          <a:lstStyle/>
          <a:p>
            <a:pPr>
              <a:spcBef>
                <a:spcPts val="0"/>
              </a:spcBef>
              <a:defRPr sz="1300" b="1">
                <a:solidFill>
                  <a:srgbClr val="3FA68A"/>
                </a:solidFill>
                <a:latin typeface="Arial"/>
              </a:defRPr>
            </a:pPr>
            <a:r>
              <a:t>AI VETTING LAYER</a:t>
            </a:r>
          </a:p>
          <a:p>
            <a:pPr>
              <a:spcBef>
                <a:spcPts val="1000"/>
              </a:spcBef>
              <a:defRPr sz="2000" b="1">
                <a:solidFill>
                  <a:srgbClr val="0B1B34"/>
                </a:solidFill>
                <a:latin typeface="Georgia"/>
              </a:defRPr>
            </a:pPr>
            <a:r>
              <a:t>Smart Automation</a:t>
            </a:r>
          </a:p>
          <a:p>
            <a:pPr>
              <a:spcBef>
                <a:spcPts val="1200"/>
              </a:spcBef>
              <a:defRPr sz="1400" b="0">
                <a:solidFill>
                  <a:srgbClr val="475569"/>
                </a:solidFill>
                <a:latin typeface="Arial"/>
              </a:defRPr>
            </a:pPr>
            <a:r>
              <a:t>• Review Summarizer: An offline, secure AI engine that parses 50+ reviews on a clinic's profile to create a 3-bullet summary.</a:t>
            </a:r>
          </a:p>
          <a:p>
            <a:pPr>
              <a:spcBef>
                <a:spcPts val="1000"/>
              </a:spcBef>
              <a:defRPr sz="1400" b="0">
                <a:solidFill>
                  <a:srgbClr val="475569"/>
                </a:solidFill>
                <a:latin typeface="Arial"/>
              </a:defRPr>
            </a:pPr>
            <a:r>
              <a:t>• Bio Generator: Drafts clean, professional doctor and nurse bios based on their resumes, making onboarding faster.</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B1B34"/>
        </a:solidFill>
        <a:effectLst/>
      </p:bgPr>
    </p:bg>
    <p:spTree>
      <p:nvGrpSpPr>
        <p:cNvPr id="1" name=""/>
        <p:cNvGrpSpPr/>
        <p:nvPr/>
      </p:nvGrpSpPr>
      <p:grpSpPr/>
      <p:sp>
        <p:nvSpPr>
          <p:cNvPr id="2" name="TextBox 1"/>
          <p:cNvSpPr txBox="1"/>
          <p:nvPr/>
        </p:nvSpPr>
        <p:spPr>
          <a:xfrm>
            <a:off x="1371600" y="2011680"/>
            <a:ext cx="9418320" cy="3200400"/>
          </a:xfrm>
          <a:prstGeom prst="rect">
            <a:avLst/>
          </a:prstGeom>
          <a:noFill/>
        </p:spPr>
        <p:txBody>
          <a:bodyPr wrap="square" lIns="0" tIns="0" rIns="0" bIns="0">
            <a:spAutoFit/>
          </a:bodyPr>
          <a:lstStyle/>
          <a:p>
            <a:pPr>
              <a:spcBef>
                <a:spcPts val="0"/>
              </a:spcBef>
              <a:defRPr sz="5600" b="1">
                <a:solidFill>
                  <a:srgbClr val="FFFFFF"/>
                </a:solidFill>
                <a:latin typeface="Georgia"/>
              </a:defRPr>
            </a:pPr>
            <a:r>
              <a:t>Thank You</a:t>
            </a:r>
          </a:p>
          <a:p>
            <a:pPr>
              <a:spcBef>
                <a:spcPts val="1000"/>
              </a:spcBef>
              <a:defRPr sz="2200" b="0">
                <a:solidFill>
                  <a:srgbClr val="E6F2EE"/>
                </a:solidFill>
                <a:latin typeface="Arial"/>
              </a:defRPr>
            </a:pPr>
            <a:r>
              <a:t>Let's build the digital authority in aesthetic medicine together.</a:t>
            </a:r>
          </a:p>
          <a:p>
            <a:pPr>
              <a:spcBef>
                <a:spcPts val="4000"/>
              </a:spcBef>
              <a:defRPr sz="1500" b="0">
                <a:solidFill>
                  <a:srgbClr val="FFFFFF"/>
                </a:solidFill>
                <a:latin typeface="Arial"/>
              </a:defRPr>
            </a:pPr>
            <a:r>
              <a:t>For questions or comments: info@injector.world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